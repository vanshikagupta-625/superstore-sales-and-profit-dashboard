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5"/>
    <p:restoredTop sz="94666"/>
  </p:normalViewPr>
  <p:slideViewPr>
    <p:cSldViewPr snapToGrid="0">
      <p:cViewPr varScale="1">
        <p:scale>
          <a:sx n="84" d="100"/>
          <a:sy n="84" d="100"/>
        </p:scale>
        <p:origin x="208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010A8-3CFE-D1EF-A3A0-763AF4A7F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7499" y="1866900"/>
            <a:ext cx="6477002" cy="1930397"/>
          </a:xfrm>
        </p:spPr>
        <p:txBody>
          <a:bodyPr/>
          <a:lstStyle/>
          <a:p>
            <a:r>
              <a:rPr lang="en-IN" sz="4000" b="1">
                <a:solidFill>
                  <a:schemeClr val="accent4">
                    <a:lumMod val="75000"/>
                  </a:schemeClr>
                </a:solidFill>
              </a:rPr>
              <a:t>Superstore Sales &amp; Profit Analysis Dashboard</a:t>
            </a:r>
            <a:br>
              <a:rPr lang="en-IN" sz="3600"/>
            </a:br>
            <a:endParaRPr lang="en-US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1D35F-3936-E72C-FB93-CEB49529DA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>
                <a:solidFill>
                  <a:schemeClr val="accent5">
                    <a:lumMod val="75000"/>
                  </a:schemeClr>
                </a:solidFill>
              </a:rPr>
              <a:t>Interactive Business Dashboard using Tableau</a:t>
            </a:r>
            <a:endParaRPr lang="en-US" sz="28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43790E-A95F-6933-E73A-45FB245D983E}"/>
              </a:ext>
            </a:extLst>
          </p:cNvPr>
          <p:cNvSpPr txBox="1"/>
          <p:nvPr/>
        </p:nvSpPr>
        <p:spPr>
          <a:xfrm>
            <a:off x="2400300" y="4609067"/>
            <a:ext cx="332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>
                <a:solidFill>
                  <a:schemeClr val="accent4">
                    <a:lumMod val="50000"/>
                  </a:schemeClr>
                </a:solidFill>
                <a:effectLst/>
              </a:rPr>
              <a:t>Prepared by:</a:t>
            </a:r>
            <a:r>
              <a:rPr lang="en-IN" b="0" i="0" u="none" strike="noStrike">
                <a:solidFill>
                  <a:schemeClr val="accent4">
                    <a:lumMod val="50000"/>
                  </a:schemeClr>
                </a:solidFill>
                <a:effectLst/>
                <a:latin typeface="+mn-lt"/>
              </a:rPr>
              <a:t> </a:t>
            </a:r>
            <a:r>
              <a:rPr lang="en-IN" b="1" i="0" u="none" strike="noStrike">
                <a:solidFill>
                  <a:schemeClr val="tx1"/>
                </a:solidFill>
                <a:effectLst/>
                <a:latin typeface="+mn-lt"/>
              </a:rPr>
              <a:t>Vanshika Gupta</a:t>
            </a:r>
            <a:endParaRPr 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05D65-FD9E-B02A-8122-832075CBDC1A}"/>
              </a:ext>
            </a:extLst>
          </p:cNvPr>
          <p:cNvSpPr txBox="1"/>
          <p:nvPr/>
        </p:nvSpPr>
        <p:spPr>
          <a:xfrm>
            <a:off x="6870702" y="4609067"/>
            <a:ext cx="612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>
                <a:solidFill>
                  <a:schemeClr val="accent4">
                    <a:lumMod val="50000"/>
                  </a:schemeClr>
                </a:solidFill>
                <a:effectLst/>
              </a:rPr>
              <a:t>Role:</a:t>
            </a:r>
            <a:r>
              <a:rPr lang="en-IN" b="0" i="0" u="none" strike="noStrike">
                <a:solidFill>
                  <a:schemeClr val="accent4">
                    <a:lumMod val="50000"/>
                  </a:schemeClr>
                </a:solidFill>
                <a:effectLst/>
                <a:latin typeface="+mn-lt"/>
              </a:rPr>
              <a:t> </a:t>
            </a:r>
            <a:r>
              <a:rPr lang="en-IN" b="1" i="0" u="none" strike="noStrike">
                <a:solidFill>
                  <a:schemeClr val="tx1"/>
                </a:solidFill>
                <a:effectLst/>
                <a:latin typeface="+mn-lt"/>
              </a:rPr>
              <a:t>Data Analytics Intern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59316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51E0-16A7-57E5-ECD8-5C6F54AED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1" y="762000"/>
            <a:ext cx="9778996" cy="1130300"/>
          </a:xfrm>
        </p:spPr>
        <p:txBody>
          <a:bodyPr>
            <a:normAutofit fontScale="90000"/>
          </a:bodyPr>
          <a:lstStyle/>
          <a:p>
            <a:r>
              <a:rPr lang="en-IN" b="1" u="sng">
                <a:solidFill>
                  <a:schemeClr val="accent4">
                    <a:lumMod val="50000"/>
                  </a:schemeClr>
                </a:solidFill>
              </a:rPr>
              <a:t>Project Overview</a:t>
            </a:r>
            <a:br>
              <a:rPr lang="en-IN" b="1" u="sng">
                <a:solidFill>
                  <a:schemeClr val="accent4">
                    <a:lumMod val="50000"/>
                  </a:schemeClr>
                </a:solidFill>
              </a:rPr>
            </a:br>
            <a:endParaRPr lang="en-US" u="sng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81CCC-2E22-2CFC-D023-410DE79E6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638300"/>
            <a:ext cx="9601196" cy="4237568"/>
          </a:xfrm>
        </p:spPr>
        <p:txBody>
          <a:bodyPr/>
          <a:lstStyle/>
          <a:p>
            <a:r>
              <a:rPr lang="en-IN" u="sng">
                <a:solidFill>
                  <a:schemeClr val="accent4">
                    <a:lumMod val="50000"/>
                  </a:schemeClr>
                </a:solidFill>
              </a:rPr>
              <a:t>Objective: </a:t>
            </a:r>
            <a:r>
              <a:rPr lang="en-IN"/>
              <a:t>To analyze Superstore sales data and build an interactive Tableau dashboard to understand business performance and key drivers.</a:t>
            </a:r>
          </a:p>
          <a:p>
            <a:r>
              <a:rPr lang="en-IN" u="sng">
                <a:solidFill>
                  <a:schemeClr val="accent4">
                    <a:lumMod val="50000"/>
                  </a:schemeClr>
                </a:solidFill>
              </a:rPr>
              <a:t>Key Focus Areas:</a:t>
            </a:r>
          </a:p>
          <a:p>
            <a:pPr lvl="0"/>
            <a:r>
              <a:rPr lang="en-IN"/>
              <a:t>Tracking overall Sales and Profit metrics.</a:t>
            </a:r>
          </a:p>
          <a:p>
            <a:pPr lvl="0"/>
            <a:r>
              <a:rPr lang="en-IN"/>
              <a:t>Analyzing monthly Sales and Profit trends.</a:t>
            </a:r>
          </a:p>
          <a:p>
            <a:pPr lvl="0"/>
            <a:r>
              <a:rPr lang="en-IN"/>
              <a:t>Evaluating Category and Sub-Category performance.</a:t>
            </a:r>
          </a:p>
          <a:p>
            <a:pPr lvl="0"/>
            <a:r>
              <a:rPr lang="en-IN"/>
              <a:t>Understanding Regional performance and Customer Segments.</a:t>
            </a:r>
          </a:p>
        </p:txBody>
      </p:sp>
    </p:spTree>
    <p:extLst>
      <p:ext uri="{BB962C8B-B14F-4D97-AF65-F5344CB8AC3E}">
        <p14:creationId xmlns:p14="http://schemas.microsoft.com/office/powerpoint/2010/main" val="2866458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E72F9-D426-457A-AD12-F2805A10F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2" y="601133"/>
            <a:ext cx="9601196" cy="960968"/>
          </a:xfrm>
        </p:spPr>
        <p:txBody>
          <a:bodyPr/>
          <a:lstStyle/>
          <a:p>
            <a:r>
              <a:rPr lang="en-IN" u="sng">
                <a:solidFill>
                  <a:schemeClr val="accent4">
                    <a:lumMod val="50000"/>
                  </a:schemeClr>
                </a:solidFill>
              </a:rPr>
              <a:t>Dataset &amp; Tools</a:t>
            </a:r>
            <a:endParaRPr lang="en-US" u="sng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91D33-7909-92B4-2A05-1FFAD910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701800"/>
            <a:ext cx="9601196" cy="4445000"/>
          </a:xfrm>
        </p:spPr>
        <p:txBody>
          <a:bodyPr/>
          <a:lstStyle/>
          <a:p>
            <a:r>
              <a:rPr lang="en-IN" b="1" u="sng">
                <a:solidFill>
                  <a:schemeClr val="accent4">
                    <a:lumMod val="50000"/>
                  </a:schemeClr>
                </a:solidFill>
              </a:rPr>
              <a:t>Dataset Used:</a:t>
            </a:r>
            <a:r>
              <a:rPr lang="en-IN" u="sng">
                <a:solidFill>
                  <a:schemeClr val="accent4">
                    <a:lumMod val="50000"/>
                  </a:schemeClr>
                </a:solidFill>
              </a:rPr>
              <a:t> </a:t>
            </a:r>
            <a:r>
              <a:rPr lang="en-IN"/>
              <a:t>Superstore Sales Dataset.</a:t>
            </a:r>
            <a:endParaRPr lang="en-US"/>
          </a:p>
          <a:p>
            <a:endParaRPr lang="en-US"/>
          </a:p>
          <a:p>
            <a:r>
              <a:rPr lang="en-IN" u="sng">
                <a:solidFill>
                  <a:schemeClr val="accent4">
                    <a:lumMod val="50000"/>
                  </a:schemeClr>
                </a:solidFill>
              </a:rPr>
              <a:t>Key Fields: </a:t>
            </a:r>
            <a:r>
              <a:rPr lang="en-IN"/>
              <a:t>Order Date, Sales, Profit, Quantity, Category, Sub-Category, Region, Segment.</a:t>
            </a:r>
          </a:p>
          <a:p>
            <a:pPr lvl="0"/>
            <a:r>
              <a:rPr lang="en-IN" u="sng">
                <a:solidFill>
                  <a:schemeClr val="accent4">
                    <a:lumMod val="50000"/>
                  </a:schemeClr>
                </a:solidFill>
              </a:rPr>
              <a:t>Tools Used: </a:t>
            </a:r>
          </a:p>
          <a:p>
            <a:pPr lvl="0"/>
            <a:r>
              <a:rPr lang="en-IN"/>
              <a:t>Tableau Desktop / Tableau Public.</a:t>
            </a:r>
          </a:p>
          <a:p>
            <a:pPr lvl="0"/>
            <a:r>
              <a:rPr lang="en-IN"/>
              <a:t>Excel / CSV Dataset.</a:t>
            </a:r>
          </a:p>
          <a:p>
            <a:pPr lvl="0"/>
            <a:r>
              <a:rPr lang="en-IN" u="sng">
                <a:solidFill>
                  <a:schemeClr val="accent4">
                    <a:lumMod val="50000"/>
                  </a:schemeClr>
                </a:solidFill>
              </a:rPr>
              <a:t>Dashboard Features: </a:t>
            </a:r>
            <a:r>
              <a:rPr lang="en-IN"/>
              <a:t>KPI Cards, Line Charts, Bar Charts, Dynamic Filters.</a:t>
            </a:r>
            <a:endParaRPr lang="en-IN" u="sng">
              <a:solidFill>
                <a:schemeClr val="accent4">
                  <a:lumMod val="50000"/>
                </a:schemeClr>
              </a:solidFill>
            </a:endParaRPr>
          </a:p>
          <a:p>
            <a:endParaRPr lang="en-IN" u="sng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56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1A2DF-DA4D-9AFB-53F4-ACA9DE35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656165"/>
            <a:ext cx="9601196" cy="651933"/>
          </a:xfrm>
        </p:spPr>
        <p:txBody>
          <a:bodyPr>
            <a:normAutofit/>
          </a:bodyPr>
          <a:lstStyle/>
          <a:p>
            <a:r>
              <a:rPr lang="en-IN" sz="2800" u="sng">
                <a:solidFill>
                  <a:schemeClr val="accent4">
                    <a:lumMod val="50000"/>
                  </a:schemeClr>
                </a:solidFill>
              </a:rPr>
              <a:t>Superstore Sales &amp; Profit Performance Dashboard</a:t>
            </a:r>
            <a:endParaRPr lang="en-US" sz="2800" u="sng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9D604D-6FE4-0082-A157-E7F582936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200" y="1206499"/>
            <a:ext cx="10248900" cy="499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27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3B4C33-FBCD-C0FB-F63E-F2ABB265ADE8}"/>
              </a:ext>
            </a:extLst>
          </p:cNvPr>
          <p:cNvSpPr txBox="1"/>
          <p:nvPr/>
        </p:nvSpPr>
        <p:spPr>
          <a:xfrm>
            <a:off x="4443412" y="834003"/>
            <a:ext cx="645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0" u="sng" strike="noStrike">
                <a:solidFill>
                  <a:schemeClr val="accent4">
                    <a:lumMod val="50000"/>
                  </a:schemeClr>
                </a:solidFill>
                <a:effectLst/>
                <a:latin typeface="+mn-lt"/>
              </a:rPr>
              <a:t>Key Insights</a:t>
            </a:r>
            <a:endParaRPr lang="en-US" sz="3600" b="1" u="sng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87320-13EB-7A1E-C6D1-15DC7857D90F}"/>
              </a:ext>
            </a:extLst>
          </p:cNvPr>
          <p:cNvSpPr txBox="1"/>
          <p:nvPr/>
        </p:nvSpPr>
        <p:spPr>
          <a:xfrm>
            <a:off x="1038225" y="1751469"/>
            <a:ext cx="1011554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i="0" u="sng">
                <a:solidFill>
                  <a:schemeClr val="accent4">
                    <a:lumMod val="50000"/>
                  </a:schemeClr>
                </a:solidFill>
                <a:effectLst/>
              </a:rPr>
              <a:t>Overall Metrics: </a:t>
            </a:r>
            <a:r>
              <a:rPr lang="en-IN" sz="2400" b="0" i="0">
                <a:solidFill>
                  <a:schemeClr val="tx1"/>
                </a:solidFill>
                <a:effectLst/>
              </a:rPr>
              <a:t>The business generated total Sales of </a:t>
            </a:r>
            <a:r>
              <a:rPr lang="en-IN" sz="2400" b="1" i="0">
                <a:solidFill>
                  <a:schemeClr val="tx1"/>
                </a:solidFill>
                <a:effectLst/>
              </a:rPr>
              <a:t>2,297,201 </a:t>
            </a:r>
            <a:r>
              <a:rPr lang="en-IN" sz="2400" i="0">
                <a:solidFill>
                  <a:schemeClr val="tx1"/>
                </a:solidFill>
                <a:effectLst/>
              </a:rPr>
              <a:t>and a Net Profit of </a:t>
            </a:r>
            <a:r>
              <a:rPr lang="en-IN" sz="2400" b="1" i="0">
                <a:solidFill>
                  <a:schemeClr val="tx1"/>
                </a:solidFill>
                <a:effectLst/>
              </a:rPr>
              <a:t>286397</a:t>
            </a:r>
            <a:r>
              <a:rPr lang="en-IN" sz="2400" i="0">
                <a:solidFill>
                  <a:schemeClr val="tx1"/>
                </a:solidFill>
                <a:effectLst/>
              </a:rPr>
              <a:t>.</a:t>
            </a:r>
            <a:r>
              <a:rPr lang="en-IN" sz="2400" b="0" i="0">
                <a:solidFill>
                  <a:schemeClr val="tx1"/>
                </a:solidFill>
                <a:effectLst/>
              </a:rPr>
              <a:t> Total Quantity sold reached </a:t>
            </a:r>
            <a:r>
              <a:rPr lang="en-IN" sz="2400" b="1" i="0">
                <a:solidFill>
                  <a:schemeClr val="tx1"/>
                </a:solidFill>
                <a:effectLst/>
              </a:rPr>
              <a:t>37,873</a:t>
            </a:r>
            <a:r>
              <a:rPr lang="en-IN" sz="2400" b="0" i="0">
                <a:solidFill>
                  <a:schemeClr val="tx1"/>
                </a:solidFill>
                <a:effectLst/>
              </a:rPr>
              <a:t> across </a:t>
            </a:r>
            <a:r>
              <a:rPr lang="en-IN" sz="2400" b="1" i="0">
                <a:solidFill>
                  <a:schemeClr val="tx1"/>
                </a:solidFill>
                <a:effectLst/>
              </a:rPr>
              <a:t>5,009</a:t>
            </a:r>
            <a:r>
              <a:rPr lang="en-IN" sz="2400" b="0" i="0">
                <a:solidFill>
                  <a:schemeClr val="tx1"/>
                </a:solidFill>
                <a:effectLst/>
              </a:rPr>
              <a:t> total orders.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i="0" u="sng">
                <a:solidFill>
                  <a:schemeClr val="accent4">
                    <a:lumMod val="50000"/>
                  </a:schemeClr>
                </a:solidFill>
                <a:effectLst/>
              </a:rPr>
              <a:t>Monthly Trends</a:t>
            </a:r>
            <a:r>
              <a:rPr lang="en-IN" sz="2400" i="0" u="sng">
                <a:solidFill>
                  <a:schemeClr val="accent4">
                    <a:lumMod val="50000"/>
                  </a:schemeClr>
                </a:solidFill>
                <a:effectLst/>
              </a:rPr>
              <a:t>: </a:t>
            </a:r>
            <a:r>
              <a:rPr lang="en-IN" sz="2400" b="0" i="0">
                <a:solidFill>
                  <a:schemeClr val="tx1"/>
                </a:solidFill>
                <a:effectLst/>
              </a:rPr>
              <a:t>Sales show a strong seasonal spike toward year-end (November &amp; December), while starting slower in the first quarter.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i="0" u="sng">
                <a:solidFill>
                  <a:schemeClr val="accent4">
                    <a:lumMod val="50000"/>
                  </a:schemeClr>
                </a:solidFill>
                <a:effectLst/>
              </a:rPr>
              <a:t>Category Performance: </a:t>
            </a:r>
            <a:r>
              <a:rPr lang="en-IN" sz="2400" b="0" i="0">
                <a:solidFill>
                  <a:schemeClr val="tx1"/>
                </a:solidFill>
                <a:effectLst/>
              </a:rPr>
              <a:t>Technology leads as the top revenue-generating category, followed by Office Supplies and Furniture.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i="0" u="sng">
                <a:solidFill>
                  <a:schemeClr val="accent4">
                    <a:lumMod val="50000"/>
                  </a:schemeClr>
                </a:solidFill>
                <a:effectLst/>
              </a:rPr>
              <a:t>Profitability:</a:t>
            </a:r>
            <a:r>
              <a:rPr lang="en-IN" sz="2400" b="0" i="0" u="sng">
                <a:solidFill>
                  <a:schemeClr val="accent4">
                    <a:lumMod val="50000"/>
                  </a:schemeClr>
                </a:solidFill>
                <a:effectLst/>
              </a:rPr>
              <a:t> </a:t>
            </a:r>
            <a:r>
              <a:rPr lang="en-IN" sz="2400" b="0" i="0">
                <a:solidFill>
                  <a:schemeClr val="tx1"/>
                </a:solidFill>
                <a:effectLst/>
              </a:rPr>
              <a:t>Some sub-categories generate high sales volume but yield lower profit margins or losses due to heavy discounting (e.g., Tables).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i="0" u="sng">
                <a:solidFill>
                  <a:schemeClr val="accent4">
                    <a:lumMod val="50000"/>
                  </a:schemeClr>
                </a:solidFill>
                <a:effectLst/>
              </a:rPr>
              <a:t>Regional Breakdown:</a:t>
            </a:r>
            <a:r>
              <a:rPr lang="en-IN" sz="2400" b="0" i="0" u="sng">
                <a:solidFill>
                  <a:schemeClr val="accent4">
                    <a:lumMod val="50000"/>
                  </a:schemeClr>
                </a:solidFill>
                <a:effectLst/>
              </a:rPr>
              <a:t> </a:t>
            </a:r>
            <a:r>
              <a:rPr lang="en-IN" sz="2400" b="0" i="0">
                <a:solidFill>
                  <a:schemeClr val="tx1"/>
                </a:solidFill>
                <a:effectLst/>
              </a:rPr>
              <a:t>The West region leads in overall sales performance, while other regions show distinct growth opportunities.</a:t>
            </a:r>
            <a:endParaRPr lang="en-IN" sz="2400" b="0" i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7064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F2137E-C48C-D718-FA29-DCC17329723F}"/>
              </a:ext>
            </a:extLst>
          </p:cNvPr>
          <p:cNvSpPr txBox="1"/>
          <p:nvPr/>
        </p:nvSpPr>
        <p:spPr>
          <a:xfrm>
            <a:off x="1128713" y="1710929"/>
            <a:ext cx="1024413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2400" b="1" i="0" u="sng">
                <a:solidFill>
                  <a:schemeClr val="accent4">
                    <a:lumMod val="50000"/>
                  </a:schemeClr>
                </a:solidFill>
                <a:effectLst/>
              </a:rPr>
              <a:t>Recommendations:</a:t>
            </a:r>
            <a:endParaRPr lang="en-IN" sz="2400" b="0" i="0" u="sng">
              <a:solidFill>
                <a:schemeClr val="accent4">
                  <a:lumMod val="50000"/>
                </a:schemeClr>
              </a:solidFill>
              <a:effectLst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400" i="0" u="sng">
                <a:solidFill>
                  <a:schemeClr val="accent4">
                    <a:lumMod val="50000"/>
                  </a:schemeClr>
                </a:solidFill>
                <a:effectLst/>
              </a:rPr>
              <a:t>Focus on High-Margin Products: </a:t>
            </a:r>
            <a:r>
              <a:rPr lang="en-IN" sz="2400" b="0" i="0">
                <a:solidFill>
                  <a:schemeClr val="tx1"/>
                </a:solidFill>
                <a:effectLst/>
              </a:rPr>
              <a:t>Prioritize marketing for categories and sub-categories with higher profit returns.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400" i="0" u="sng">
                <a:solidFill>
                  <a:schemeClr val="accent4">
                    <a:lumMod val="50000"/>
                  </a:schemeClr>
                </a:solidFill>
                <a:effectLst/>
              </a:rPr>
              <a:t>Review Discount Strategies: </a:t>
            </a:r>
            <a:r>
              <a:rPr lang="en-IN" sz="2400" b="0" i="0">
                <a:solidFill>
                  <a:schemeClr val="tx1"/>
                </a:solidFill>
                <a:effectLst/>
              </a:rPr>
              <a:t>Adjust pricing and discount policies on low-profit items (e.g., Tables) to prevent profit loss.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400" i="0" u="sng">
                <a:solidFill>
                  <a:schemeClr val="accent4">
                    <a:lumMod val="50000"/>
                  </a:schemeClr>
                </a:solidFill>
                <a:effectLst/>
              </a:rPr>
              <a:t>Capitalize on Q4 Demand: </a:t>
            </a:r>
            <a:r>
              <a:rPr lang="en-IN" sz="2400" b="0" i="0">
                <a:solidFill>
                  <a:schemeClr val="tx1"/>
                </a:solidFill>
                <a:effectLst/>
              </a:rPr>
              <a:t>Plan inventory and logistics well in advance to handle year-end seasonal demand spikes.</a:t>
            </a:r>
          </a:p>
          <a:p>
            <a:pPr indent="0" algn="l">
              <a:buNone/>
            </a:pPr>
            <a:r>
              <a:rPr lang="en-IN" sz="2400" b="1" i="0" u="sng">
                <a:solidFill>
                  <a:schemeClr val="accent4">
                    <a:lumMod val="50000"/>
                  </a:schemeClr>
                </a:solidFill>
                <a:effectLst/>
              </a:rPr>
              <a:t>Conclusion:</a:t>
            </a:r>
          </a:p>
          <a:p>
            <a:pPr indent="0" algn="l">
              <a:buNone/>
            </a:pPr>
            <a:r>
              <a:rPr lang="en-IN" sz="2400" b="0" i="0">
                <a:solidFill>
                  <a:schemeClr val="tx1"/>
                </a:solidFill>
                <a:effectLst/>
              </a:rPr>
              <a:t>The interactive Tableau dashboard provides clear visibility into Superstore's overall sales performance, helping stakeholders identify key trends, profitable product segments, and actionable growth opportunities.</a:t>
            </a:r>
            <a:endParaRPr lang="en-IN" sz="2400" b="0" i="0">
              <a:solidFill>
                <a:srgbClr val="000000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E10897-952D-4323-44DC-8ABCD0F05087}"/>
              </a:ext>
            </a:extLst>
          </p:cNvPr>
          <p:cNvSpPr txBox="1"/>
          <p:nvPr/>
        </p:nvSpPr>
        <p:spPr>
          <a:xfrm>
            <a:off x="2043113" y="806350"/>
            <a:ext cx="84296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sng" strike="noStrike">
                <a:solidFill>
                  <a:schemeClr val="accent4">
                    <a:lumMod val="50000"/>
                  </a:schemeClr>
                </a:solidFill>
                <a:effectLst/>
                <a:latin typeface="+mn-lt"/>
              </a:rPr>
              <a:t>Recommendations &amp; Conclusion</a:t>
            </a:r>
            <a:endParaRPr lang="en-US" sz="3200" b="1" u="sng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82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45</TotalTime>
  <Words>353</Words>
  <Application>Microsoft Macintosh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Superstore Sales &amp; Profit Analysis Dashboard </vt:lpstr>
      <vt:lpstr>Project Overview </vt:lpstr>
      <vt:lpstr>Dataset &amp; Tools</vt:lpstr>
      <vt:lpstr>Superstore Sales &amp; Profit Performance Dashboard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Vanshika Gupta</dc:creator>
  <cp:lastModifiedBy>Vanshika Gupta</cp:lastModifiedBy>
  <cp:revision>1</cp:revision>
  <dcterms:created xsi:type="dcterms:W3CDTF">2026-10-07T14:09:02Z</dcterms:created>
  <dcterms:modified xsi:type="dcterms:W3CDTF">2026-10-07T14:54:37Z</dcterms:modified>
</cp:coreProperties>
</file>